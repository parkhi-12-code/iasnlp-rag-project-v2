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137160"/>
            <a:ext cx="52120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1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Does Better Retrieval Solve
Temporal Reasoning?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000" b="0" i="0">
                <a:solidFill>
                  <a:srgbClr val="2196F3"/>
                </a:solidFill>
                <a:latin typeface="Calibri"/>
              </a:rPr>
              <a:t>Comparing Knowledge Graph RAG, Naive RAG, and Text-to-Pandas
over Longitudinal Patient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3886200"/>
            <a:ext cx="6702552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IIIT-Hyderabad   ·   Information Access &amp; Search (IASNLP)   · 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E3F2FD"/>
                </a:solidFill>
                <a:latin typeface="Calibri"/>
              </a:rPr>
              <a:t>Synthea Longitudinal EHR · 1,171 Patients · 100-Question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2004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900">
                <a:solidFill>
                  <a:srgbClr val="FFFFFF"/>
                </a:solidFill>
                <a:latin typeface="Calibri"/>
              </a:rPr>
              <a:t>▸ EHR data is tabular, relational, and time-indexed — not natural text</a:t>
            </a:r>
          </a:p>
          <a:p>
            <a:pPr>
              <a:spcBef>
                <a:spcPts val="600"/>
              </a:spcBef>
            </a:pPr>
            <a:r>
              <a:rPr sz="1900">
                <a:solidFill>
                  <a:srgbClr val="FFFFFF"/>
                </a:solidFill>
                <a:latin typeface="Calibri"/>
              </a:rPr>
              <a:t>▸ Temporal questions need patient scoping, wave retrieval, and arithmetic</a:t>
            </a:r>
          </a:p>
          <a:p>
            <a:pPr>
              <a:spcBef>
                <a:spcPts val="600"/>
              </a:spcBef>
            </a:pPr>
            <a:r>
              <a:rPr sz="1900">
                <a:solidFill>
                  <a:srgbClr val="FFFFFF"/>
                </a:solidFill>
                <a:latin typeface="Calibri"/>
              </a:rPr>
              <a:t>▸ Vector similarity search retrieves wrong patients, wrong time windows</a:t>
            </a:r>
          </a:p>
          <a:p>
            <a:pPr>
              <a:spcBef>
                <a:spcPts val="600"/>
              </a:spcBef>
            </a:pPr>
            <a:r>
              <a:rPr sz="1900">
                <a:solidFill>
                  <a:srgbClr val="FFFFFF"/>
                </a:solidFill>
                <a:latin typeface="Calibri"/>
              </a:rPr>
              <a:t>▸ Aggregations (trends, counts, joins) require symbolic computation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188720"/>
            <a:ext cx="4114800" cy="11887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298448"/>
            <a:ext cx="3840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Scoping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91640"/>
            <a:ext cx="3840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Who? Which wave?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2560320"/>
            <a:ext cx="4114800" cy="11887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670048"/>
            <a:ext cx="3840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Retrieval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63240"/>
            <a:ext cx="3840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Which records?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960" y="3931920"/>
            <a:ext cx="4114800" cy="118872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18120" y="4041648"/>
            <a:ext cx="38404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Computation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4434840"/>
            <a:ext cx="3840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Average? Count? Join?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Research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6576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10908792" cy="228600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051560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600" b="1" i="1">
                <a:solidFill>
                  <a:srgbClr val="2196F3"/>
                </a:solidFill>
                <a:latin typeface="Calibri"/>
              </a:rPr>
              <a:t>"Does better retrieval alone solve temporal
reasoning over longitudinal tabular data,
or does it require symbolic computation?"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31920"/>
            <a:ext cx="3474720" cy="109728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0507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Hypothesis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Graph retrieval + LLM is sufficient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3931920"/>
            <a:ext cx="3474720" cy="109728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400507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Hypothesis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38912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Symbolic computation is unavoidable for temporal ops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931920"/>
            <a:ext cx="3474720" cy="109728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4005072"/>
            <a:ext cx="32918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Hypothesis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389120"/>
            <a:ext cx="32918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Hybrid approach (graph + pandas) approaches oracle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Dataset: Synthea Longitudinal EHR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2377440" cy="42062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69848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005840"/>
            <a:ext cx="1097280" cy="42062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069848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005840"/>
            <a:ext cx="1828800" cy="42062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069848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426464"/>
            <a:ext cx="237744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490472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patients.csv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426464"/>
            <a:ext cx="109728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8920" y="1490472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1,171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426464"/>
            <a:ext cx="182880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86200" y="1490472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Demographics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7088"/>
            <a:ext cx="237744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911096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conditions.csv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847088"/>
            <a:ext cx="109728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1911096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8,376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1847088"/>
            <a:ext cx="182880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1911096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Diagnoses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267712"/>
            <a:ext cx="237744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331720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observations.csv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267712"/>
            <a:ext cx="109728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8920" y="2331720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299,697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2267712"/>
            <a:ext cx="1828800" cy="420624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86200" y="2331720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Vitals &amp; Labs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688336"/>
            <a:ext cx="237744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752344"/>
            <a:ext cx="228600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medications.csv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2688336"/>
            <a:ext cx="109728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88920" y="2752344"/>
            <a:ext cx="100584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42,989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0" y="2688336"/>
            <a:ext cx="1828800" cy="420624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86200" y="2752344"/>
            <a:ext cx="173736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Prescriptions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3337560"/>
            <a:ext cx="53035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7 longitudinal waves (5-year bins):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36576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1: 1990–1994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2: 1995–1999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3: 2000–2004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4: 2005–2009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3657600"/>
            <a:ext cx="2560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5: 2010–2014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6: 2015–2019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Wave 7: 2020+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914400"/>
            <a:ext cx="62179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Benchmark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2004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10972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E3F2FD"/>
                </a:solidFill>
                <a:latin typeface="Calibri"/>
              </a:rPr>
              <a:t>100 questions · 25 per category · verified gold answers from raw CSVs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5212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Retrieve a specific fact
about a patient in
a named wave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5212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e.g. 'What conditions
did patient X have
in Wave 4?'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486400" cy="23774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508760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65960"/>
            <a:ext cx="5212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Compute change in a vital
between two waves
(wave-level average)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926080"/>
            <a:ext cx="5212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e.g. 'Did SBP increase
from Wave 3 to Wave 5?'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77639"/>
            <a:ext cx="5486400" cy="23774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069079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Aggregate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26279"/>
            <a:ext cx="5212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Count or enumerate facts
across ALL waves
for a patient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486399"/>
            <a:ext cx="5212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e.g. 'How many unique
conditions in total?'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977639"/>
            <a:ext cx="5486400" cy="23774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069079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Multi-hop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526279"/>
            <a:ext cx="52120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Join condition date +
observation series;
compute pre/post avg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486399"/>
            <a:ext cx="52120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e.g. 'Was SBP higher
after Hypertension
diagnosis?'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4 Approaches: From Naive to Oracle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005840"/>
            <a:ext cx="2788920" cy="44805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97280"/>
            <a:ext cx="502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115568"/>
            <a:ext cx="502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0972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83080"/>
            <a:ext cx="26060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CSV rows → text chunks
Vector similarity (top-10)
No patient/wave awareness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029200"/>
            <a:ext cx="1645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47488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Overall: 11%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3017520"/>
            <a:ext cx="201168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005840"/>
            <a:ext cx="2788920" cy="44805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1097280"/>
            <a:ext cx="502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115568"/>
            <a:ext cx="502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10972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Metadata
Filtering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83080"/>
            <a:ext cx="26060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Patient ID + wave extracted
Filtered similarity search
Flat text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94760" y="5029200"/>
            <a:ext cx="1645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5047488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Overall: 23%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3017520"/>
            <a:ext cx="201168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005840"/>
            <a:ext cx="2788920" cy="44805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5080" y="1097280"/>
            <a:ext cx="502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115568"/>
            <a:ext cx="502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0972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Knowledge
Graph v2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26060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NetworkX heterogeneous graph
Graph traversal → subgraph
Structured context to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12280" y="5029200"/>
            <a:ext cx="1645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5047488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Overall: 42%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3017520"/>
            <a:ext cx="201168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60" y="1005840"/>
            <a:ext cx="2788920" cy="44805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1097280"/>
            <a:ext cx="502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1115568"/>
            <a:ext cx="502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097280"/>
            <a:ext cx="20116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Text-to-
Pandas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1783080"/>
            <a:ext cx="2606040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LLM generates pandas code
Executes against raw DataFrames
Symbolic computation oracle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5029200"/>
            <a:ext cx="164592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5047488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Overall: 100%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Knowledge Graph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1737360" cy="7772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23444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Patient
(1,171)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1737360" cy="7772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278892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Wave
(7)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2743200"/>
            <a:ext cx="1737360" cy="7772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278892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Condition
(6,742)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572000"/>
            <a:ext cx="1737360" cy="7772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461772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Observation
(274,720)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4572000"/>
            <a:ext cx="1737360" cy="7772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4617720"/>
            <a:ext cx="16459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Medication
(33,134)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" y="201168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appeared_in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01168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diagnosed_with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" y="3749039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measured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749039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prescribed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" y="4206240"/>
            <a:ext cx="2103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contains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914400"/>
            <a:ext cx="7132320" cy="502920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005840"/>
            <a:ext cx="676656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Graph Statistics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15544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Total nodes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15544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315,774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0116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Total edges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0116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633,571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24688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Patient nodes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4688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1,171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9260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Wave nodes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29260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7 (shared)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33832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Condition nodes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33832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6,742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46320" y="38404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Observation nodes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8404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274,720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4297680"/>
            <a:ext cx="36576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E3F2FD"/>
                </a:solidFill>
                <a:latin typeface="Calibri"/>
              </a:rPr>
              <a:t>Medication nodes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297680"/>
            <a:ext cx="2926080" cy="384048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33,134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46320" y="4846320"/>
            <a:ext cx="6766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E3F2FD"/>
                </a:solidFill>
                <a:latin typeface="Calibri"/>
              </a:rPr>
              <a:t>5 node types · 5 directed edge types
Wave assignment from event-date year field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Full Results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2004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310896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4300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005840"/>
            <a:ext cx="146304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14300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Lookup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005840"/>
            <a:ext cx="146304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114300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Trend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005840"/>
            <a:ext cx="173736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14300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Aggregate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005840"/>
            <a:ext cx="164592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114300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Multi-hop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84080" y="1005840"/>
            <a:ext cx="164592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9800" y="114300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Overall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645920"/>
            <a:ext cx="310896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178308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1645920"/>
            <a:ext cx="1463040" cy="640080"/>
          </a:xfrm>
          <a:prstGeom prst="rect">
            <a:avLst/>
          </a:prstGeom>
          <a:solidFill>
            <a:srgbClr val="5D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178308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1645920"/>
            <a:ext cx="146304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83480" y="178308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645920"/>
            <a:ext cx="173736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78308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16%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1645920"/>
            <a:ext cx="164592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178308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1645920"/>
            <a:ext cx="1645920" cy="640080"/>
          </a:xfrm>
          <a:prstGeom prst="rect">
            <a:avLst/>
          </a:prstGeom>
          <a:solidFill>
            <a:srgbClr val="283A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78308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11%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286000"/>
            <a:ext cx="310896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42316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Metadata Filtering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0" y="2286000"/>
            <a:ext cx="146304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440" y="242316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48%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286000"/>
            <a:ext cx="146304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83480" y="242316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2286000"/>
            <a:ext cx="173736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242316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28%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8160" y="2286000"/>
            <a:ext cx="164592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83880" y="242316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784080" y="2286000"/>
            <a:ext cx="164592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29800" y="242316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23%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2926080"/>
            <a:ext cx="3108960" cy="640080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306324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Knowledge Graph v2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0" y="2926080"/>
            <a:ext cx="1463040" cy="640080"/>
          </a:xfrm>
          <a:prstGeom prst="rect">
            <a:avLst/>
          </a:prstGeom>
          <a:solidFill>
            <a:srgbClr val="0D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20440" y="306324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37760" y="2926080"/>
            <a:ext cx="1463040" cy="640080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83480" y="306324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2926080"/>
            <a:ext cx="1737360" cy="640080"/>
          </a:xfrm>
          <a:prstGeom prst="rect">
            <a:avLst/>
          </a:prstGeom>
          <a:solidFill>
            <a:srgbClr val="0D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306324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64%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38160" y="2926080"/>
            <a:ext cx="1645920" cy="640080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83880" y="306324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84080" y="2926080"/>
            <a:ext cx="1645920" cy="640080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29800" y="306324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566160"/>
            <a:ext cx="310896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1480" y="3703320"/>
            <a:ext cx="30175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Text-to-Pandas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0" y="3566160"/>
            <a:ext cx="146304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20440" y="370332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37760" y="3566160"/>
            <a:ext cx="146304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83480" y="3703320"/>
            <a:ext cx="13716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3566160"/>
            <a:ext cx="173736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3703320"/>
            <a:ext cx="16459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38160" y="3566160"/>
            <a:ext cx="1645920" cy="640080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83880" y="370332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84080" y="3566160"/>
            <a:ext cx="164592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829800" y="3703320"/>
            <a:ext cx="15544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5669280"/>
            <a:ext cx="11430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E3F2FD"/>
                </a:solidFill>
                <a:latin typeface="Calibri"/>
              </a:rPr>
              <a:t>KG v2 = best retrieval-only system · Text-to-Pandas = symbolic oracle upper bound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Results: Accuracy by Category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Finding 1: Graph Isolation Nearly Solves Lookup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64008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303520" cy="512064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Lookup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709928"/>
            <a:ext cx="2011680" cy="34747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709928"/>
            <a:ext cx="20116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67712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Metadata Filtering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2331720"/>
            <a:ext cx="2011680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331720"/>
            <a:ext cx="20116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89504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Knowledge Graph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2953512"/>
            <a:ext cx="2011680" cy="34747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953512"/>
            <a:ext cx="20116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11296"/>
            <a:ext cx="3200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Text-to-Pandas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3575304"/>
            <a:ext cx="201168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575304"/>
            <a:ext cx="201168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50292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2196F3"/>
                </a:solidFill>
                <a:latin typeface="Calibri"/>
              </a:rPr>
              <a:t>+60 pp gain: Naive RAG → KG v2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960120"/>
            <a:ext cx="5943600" cy="512064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80760" y="1051560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Why KG v2 wins on Lookup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160020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▸ Graph traversal guarantees patient-wave isolation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▸ Eliminates cross-patient context contamination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▸ Subgraph always scoped to the right wave(s)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FFFFFF"/>
                </a:solidFill>
                <a:latin typeface="Calibri"/>
              </a:rPr>
              <a:t>▸ Residual 5 failures: 3 LLM_FORMAT (dropped SNOMED qualifiers), 2 edge cases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4846320"/>
            <a:ext cx="56692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E3F2FD"/>
                </a:solidFill>
                <a:latin typeface="Calibri"/>
              </a:rPr>
              <a:t>Naive RAG failure: retrieved records from wrong patients
or wrong time windows — a noise problem graph solves by design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0972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Finding 2: Multi-Hop Is a Computation Problem, Not Retrieval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7315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486400" cy="512064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2120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Multi-Hop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Naive 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1709928"/>
            <a:ext cx="1828800" cy="34747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7099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67712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Metadata Filtering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39" y="2331720"/>
            <a:ext cx="1828800" cy="347472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233172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89504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Knowledge Graph v2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39" y="2953512"/>
            <a:ext cx="1828800" cy="347472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95351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11296"/>
            <a:ext cx="3474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Text-to-Pandas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39" y="3575304"/>
            <a:ext cx="1828800" cy="347472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49039" y="357530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17720"/>
            <a:ext cx="52120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44336"/>
                </a:solidFill>
                <a:latin typeface="Calibri"/>
              </a:rPr>
              <a:t>All retrieval approaches converge to ~0–8%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960120"/>
            <a:ext cx="5760720" cy="512064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051560"/>
            <a:ext cx="5486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What Multi-Hop Requires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6002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1. Find condition diagnosis date from conditions table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2. Split observation time-series at that date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3. Compute pre-diagnosis average SBP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4. Compute post-diagnosis average SBP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5. Compare and return direction of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846320"/>
            <a:ext cx="5486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1">
                <a:solidFill>
                  <a:srgbClr val="E3F2FD"/>
                </a:solidFill>
                <a:latin typeface="Calibri"/>
              </a:rPr>
              <a:t>No flat-context LLM can do this regardless of retrieval quality.
Text-to-Pandas solves all 25 trivially with a 2-step join.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Core Finding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11274552" cy="164592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14630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300" b="1" i="0">
                <a:solidFill>
                  <a:srgbClr val="2196F3"/>
                </a:solidFill>
                <a:latin typeface="Calibri"/>
              </a:rPr>
              <a:t>Better retrieval alone does NOT solve temporal reasoning.
The bottleneck shifts from retrieval quality to symbolic computation.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3566160" cy="21945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17520"/>
            <a:ext cx="3383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+60 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86200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Lookup gain
Naive → KG v2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926080"/>
            <a:ext cx="3566160" cy="219456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017520"/>
            <a:ext cx="3383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886200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Multi-hop (all retrieval-
only approaches)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926080"/>
            <a:ext cx="3566160" cy="21945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017520"/>
            <a:ext cx="33832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−58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3886200"/>
            <a:ext cx="3383280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Gap to oracle
(KG v2 vs Text-to-Pandas)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94960"/>
            <a:ext cx="11274552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0" i="1">
                <a:solidFill>
                  <a:srgbClr val="E3F2FD"/>
                </a:solidFill>
                <a:latin typeface="Calibri"/>
              </a:rPr>
              <a:t>Hybrid architecture (graph retrieval + pandas code generation) is required to close the gap.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114300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Extended Benchmark Confirms the Gap Widens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68580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237744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61288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005840"/>
            <a:ext cx="109728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161288"/>
            <a:ext cx="10058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005840"/>
            <a:ext cx="1097280" cy="6400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161288"/>
            <a:ext cx="10058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T2P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645920"/>
            <a:ext cx="2377440" cy="64008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10512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Standard 100Q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0" y="1645920"/>
            <a:ext cx="1097280" cy="640080"/>
          </a:xfrm>
          <a:prstGeom prst="rect">
            <a:avLst/>
          </a:prstGeom>
          <a:solidFill>
            <a:srgbClr val="0D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181051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1645920"/>
            <a:ext cx="109728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181051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286000"/>
            <a:ext cx="2377440" cy="640080"/>
          </a:xfrm>
          <a:prstGeom prst="rect">
            <a:avLst/>
          </a:prstGeom>
          <a:solidFill>
            <a:srgbClr val="1E2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450592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Extended 25Q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2286000"/>
            <a:ext cx="1097280" cy="640080"/>
          </a:xfrm>
          <a:prstGeom prst="rect">
            <a:avLst/>
          </a:prstGeom>
          <a:solidFill>
            <a:srgbClr val="6D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245059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0" y="2286000"/>
            <a:ext cx="109728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0" y="245059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26080"/>
            <a:ext cx="2377440" cy="64008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090672"/>
            <a:ext cx="22860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Combined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0" y="2926080"/>
            <a:ext cx="1097280" cy="640080"/>
          </a:xfrm>
          <a:prstGeom prst="rect">
            <a:avLst/>
          </a:prstGeom>
          <a:solidFill>
            <a:srgbClr val="1A38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0" y="309067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36%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2926080"/>
            <a:ext cx="1097280" cy="64008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0" y="3090672"/>
            <a:ext cx="109728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822192"/>
            <a:ext cx="45720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2196F3"/>
                </a:solidFill>
                <a:latin typeface="Calibri"/>
              </a:rPr>
              <a:t>Gap to oracle (Text-to-Pandas = 100%)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224528"/>
            <a:ext cx="14630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E3F2FD"/>
                </a:solidFill>
                <a:latin typeface="Calibri"/>
              </a:rPr>
              <a:t>Standard 100Q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20240" y="4270248"/>
            <a:ext cx="2333548" cy="237744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45228" y="4224528"/>
            <a:ext cx="8229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58 pts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681728"/>
            <a:ext cx="146304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E3F2FD"/>
                </a:solidFill>
                <a:latin typeface="Calibri"/>
              </a:rPr>
              <a:t>Extended 25Q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920240" y="4727448"/>
            <a:ext cx="3540556" cy="237744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52236" y="4681728"/>
            <a:ext cx="8229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88 pts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0" y="960120"/>
            <a:ext cx="6537960" cy="480060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40680" y="1024128"/>
            <a:ext cx="630936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Key Insight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0680" y="1481328"/>
            <a:ext cx="6309360" cy="2743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0680" y="1600200"/>
            <a:ext cx="6263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  <a:latin typeface="Calibri"/>
              </a:rPr>
              <a:t>▸ Harder questions = bigger gap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  <a:latin typeface="Calibri"/>
              </a:rPr>
              <a:t>▸ Pattern discovery: 88-point gap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  <a:latin typeface="Calibri"/>
              </a:rPr>
              <a:t>▸ Fact retrieval: 58-point gap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FFFFFF"/>
                </a:solidFill>
                <a:latin typeface="Calibri"/>
              </a:rPr>
              <a:t>▸ Symbolic computation advantage
grows with question complexity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833872"/>
            <a:ext cx="12188952" cy="658368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888736"/>
            <a:ext cx="11430000" cy="530352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1">
                <a:solidFill>
                  <a:srgbClr val="E3F2FD"/>
                </a:solidFill>
                <a:latin typeface="Calibri"/>
              </a:rPr>
              <a:t>Extended benchmark deliberately tests co-occurrence, trajectory, medication patterns — the questions clinicians actually ask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Patient Cohort: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36576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64592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33856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005840"/>
            <a:ext cx="164592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133856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Patient 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005840"/>
            <a:ext cx="91440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133856"/>
            <a:ext cx="8229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Waves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005840"/>
            <a:ext cx="137160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133856"/>
            <a:ext cx="12801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Conditions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005840"/>
            <a:ext cx="6035040" cy="56692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133856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Key Feature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572768"/>
            <a:ext cx="164592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682496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1572768"/>
            <a:ext cx="164592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1682496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3f336702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0" y="1572768"/>
            <a:ext cx="91440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1682496"/>
            <a:ext cx="8229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1572768"/>
            <a:ext cx="137160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1682496"/>
            <a:ext cx="12801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572768"/>
            <a:ext cx="6035040" cy="566928"/>
          </a:xfrm>
          <a:prstGeom prst="rect">
            <a:avLst/>
          </a:prstGeom>
          <a:solidFill>
            <a:srgbClr val="0D27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89320" y="1682496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Coronary Heart Disease × 6 waves; 7× burden increase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139696"/>
            <a:ext cx="164592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249424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Contrast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2139696"/>
            <a:ext cx="164592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57400" y="2249424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1930a1b6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2139696"/>
            <a:ext cx="91440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3320" y="2249424"/>
            <a:ext cx="8229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0" y="2139696"/>
            <a:ext cx="137160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2249424"/>
            <a:ext cx="12801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2139696"/>
            <a:ext cx="6035040" cy="566928"/>
          </a:xfrm>
          <a:prstGeom prst="rect">
            <a:avLst/>
          </a:prstGeom>
          <a:solidFill>
            <a:srgbClr val="1B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9320" y="2249424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Most stable: 7 waves, 1 condition, maximum coverage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706624"/>
            <a:ext cx="164592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816352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Comorbid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1680" y="2706624"/>
            <a:ext cx="164592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2816352"/>
            <a:ext cx="155448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3b95da79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0" y="2706624"/>
            <a:ext cx="91440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03320" y="2816352"/>
            <a:ext cx="8229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2706624"/>
            <a:ext cx="137160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17720" y="2816352"/>
            <a:ext cx="128016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2706624"/>
            <a:ext cx="6035040" cy="566928"/>
          </a:xfrm>
          <a:prstGeom prst="rect">
            <a:avLst/>
          </a:prstGeom>
          <a:solidFill>
            <a:srgbClr val="3E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9320" y="2816352"/>
            <a:ext cx="5943600" cy="56692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HTN + Diabetes from Wave 2; monotonic burden increase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1" i="0">
                <a:solidFill>
                  <a:srgbClr val="2196F3"/>
                </a:solidFill>
                <a:latin typeface="Calibri"/>
              </a:rPr>
              <a:t>Patient Selection Criteria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383280"/>
            <a:ext cx="11430000" cy="59436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3493008"/>
            <a:ext cx="16459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Star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03120" y="3493008"/>
            <a:ext cx="9601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Highest Star score: max conditions × max waves × rare CHD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069080"/>
            <a:ext cx="11430000" cy="59436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178808"/>
            <a:ext cx="16459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Contrast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3120" y="4178808"/>
            <a:ext cx="9601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Highest Contrast score: most waves with fewest conditions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4754880"/>
            <a:ext cx="11430000" cy="59436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4864608"/>
            <a:ext cx="164592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2196F3"/>
                </a:solidFill>
                <a:latin typeface="Calibri"/>
              </a:rPr>
              <a:t>Comorbid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03120" y="4864608"/>
            <a:ext cx="9601200" cy="38404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Highest Comorbid score: both HTN and Diabetes from earliest wave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Patient Deep Dive: 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0292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960120"/>
            <a:ext cx="3794760" cy="51206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611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Star — 3f336702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55448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22 unique conditions across all waves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CHD persistent in 6 of 7 waves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Wave 1: 3 conditions → Wave 7: 22 conditions (7× growth)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Avg SBP Wave 5→6: +4 mmHg trend detectable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Greatest diagnostic complexity in cohort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960120"/>
            <a:ext cx="3794760" cy="51206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399" y="1024128"/>
            <a:ext cx="3611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Contrast — 1930a1b6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399" y="155448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Only 1 condition (Prediabetes) across all 7 waves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Full 7-wave longitudinal coverage achieved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Zero comorbidity — clinical baseline patient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Demonstrates max wave coverage is achievable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No medication records at any wave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598" y="960120"/>
            <a:ext cx="3794760" cy="51206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38" y="1024128"/>
            <a:ext cx="36118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Comorbid — 3b95da79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8" y="1554480"/>
            <a:ext cx="3611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14 conditions; HTN + T2D from Wave 2 onward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Monotonically increasing condition burden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Antihypertensives prescribed Wave 2–7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Pre/post-HTN SBP comparison: multi-hop benchmark query</a:t>
            </a: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Highest comorbidity complexity of any patient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Failure Analysis: KG v2 (58 failures)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54864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669280" cy="5029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35040" y="960120"/>
            <a:ext cx="5943600" cy="96012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99669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CROSS_TABLE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99669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43.1%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39903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Multi-hop joins require code execution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011680"/>
            <a:ext cx="5943600" cy="9601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04825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MISSING_EDGE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04825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22.4%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45059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Retriever passes only most-recent obs; gold needs wave avg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3063240"/>
            <a:ext cx="5943600" cy="960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09981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LLM_FORMAT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09981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15.5%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0215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Correct data retrieved; wrong answer format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4114800"/>
            <a:ext cx="5943600" cy="9601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15137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COMPUTATION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5137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15.5%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55371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LLM cannot count distinct waves from flat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5166360"/>
            <a:ext cx="5943600" cy="96012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02936"/>
            <a:ext cx="3200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WRONG_SUBGRAPH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202936"/>
            <a:ext cx="10972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400" b="1" i="0">
                <a:solidFill>
                  <a:srgbClr val="FFFFFF"/>
                </a:solidFill>
                <a:latin typeface="Calibri"/>
              </a:rPr>
              <a:t> 3.4%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5605272"/>
            <a:ext cx="56692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Empty context returned for wave that has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0" y="91440"/>
            <a:ext cx="52120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2196F3"/>
                </a:solidFill>
                <a:latin typeface="Calibri"/>
              </a:rPr>
              <a:t>IIIT-Hyderabad · IASNLP ·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6492240"/>
            <a:ext cx="10972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82880"/>
            <a:ext cx="82296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749808"/>
            <a:ext cx="4114800" cy="36576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577840" cy="5120640"/>
          </a:xfrm>
          <a:prstGeom prst="rect">
            <a:avLst/>
          </a:prstGeom>
          <a:solidFill>
            <a:srgbClr val="0D14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24128"/>
            <a:ext cx="53035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Conclusions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5544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Graph retrieval solves lookup — 80% accuracy vs 20% Naive RAG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Retrieval alone cannot handle trend averaging or multi-hop joins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Text-to-Pandas achieves 100% — symbolic computation is the bottleneck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58-pp gap to oracle is a computation gap, not a retrieval gap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Hybrid architecture (graph + pandas) is the recommended path forward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960120"/>
            <a:ext cx="5669280" cy="5120640"/>
          </a:xfrm>
          <a:prstGeom prst="rect">
            <a:avLst/>
          </a:prstGeom>
          <a:solidFill>
            <a:srgbClr val="1E33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024128"/>
            <a:ext cx="53949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 i="0">
                <a:solidFill>
                  <a:srgbClr val="2196F3"/>
                </a:solidFill>
                <a:latin typeface="Calibri"/>
              </a:rPr>
              <a:t>Future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544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Fix MISSING_EDGE: pass all obs with wave mean → trend ~80%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Two-stage multi-hop: graph resolves diagnosis date, pandas computes pre/post avg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LLM-as-judge evaluator for format-sensitive answers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Finer-grained temporal index (monthly vs 5-year waves)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▸ Validate on real EHR data (MIMIC-IV, eICU)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336792"/>
            <a:ext cx="114300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IIIT-Hyderabad · IASNLP · 2026   |   github.com/iasnlp-rag-project-v2   |   Synthea EHR · 1,171 patients · 100-Q 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