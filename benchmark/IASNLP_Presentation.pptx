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13716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Does Better Retrieval Solve
Temporal Reasoning?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0">
                <a:solidFill>
                  <a:srgbClr val="2196F3"/>
                </a:solidFill>
                <a:latin typeface="Calibri"/>
              </a:rPr>
              <a:t>Comparing Knowledge Graph RAG, Naive RAG, and Text-to-Pandas
over Longitudinal Patient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886200"/>
            <a:ext cx="6702552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IIIT-Hyderabad   ·   Information Access &amp; Search (IASNLP)   · 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3F2FD"/>
                </a:solidFill>
                <a:latin typeface="Calibri"/>
              </a:rPr>
              <a:t>Synthea Longitudinal EHR · 1,171 Patients · 100-Question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914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32004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▸ EHR data is tabular, relational, and time-indexed — not natural text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▸ Temporal questions need patient scoping, wave retrieval, and arithmetic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▸ Vector similarity search retrieves wrong patients, wrong time windows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▸ Aggregations (trends, counts, joins) require symbolic computation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188720"/>
            <a:ext cx="4114800" cy="1188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298448"/>
            <a:ext cx="3840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Scoping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691640"/>
            <a:ext cx="3840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Who? Which wave?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2560320"/>
            <a:ext cx="4114800" cy="1188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670048"/>
            <a:ext cx="3840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063240"/>
            <a:ext cx="3840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Which records?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3931920"/>
            <a:ext cx="4114800" cy="118872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4041648"/>
            <a:ext cx="3840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Computation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434840"/>
            <a:ext cx="3840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Average? Count? Join?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914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Research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36576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908792" cy="2286000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1">
                <a:solidFill>
                  <a:srgbClr val="2196F3"/>
                </a:solidFill>
                <a:latin typeface="Calibri"/>
              </a:rPr>
              <a:t>"Does better retrieval alone solve temporal
reasoning over longitudinal tabular data,
or does it require symbolic computation?"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31920"/>
            <a:ext cx="3474720" cy="1097280"/>
          </a:xfrm>
          <a:prstGeom prst="rect">
            <a:avLst/>
          </a:prstGeom>
          <a:solidFill>
            <a:srgbClr val="1E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0507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196F3"/>
                </a:solidFill>
                <a:latin typeface="Calibri"/>
              </a:rPr>
              <a:t>Hypothesis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Graph retrieval + LLM is sufficient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931920"/>
            <a:ext cx="3474720" cy="1097280"/>
          </a:xfrm>
          <a:prstGeom prst="rect">
            <a:avLst/>
          </a:prstGeom>
          <a:solidFill>
            <a:srgbClr val="1E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00507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196F3"/>
                </a:solidFill>
                <a:latin typeface="Calibri"/>
              </a:rPr>
              <a:t>Hypothesis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38912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Symbolic computation is unavoidable for temporal ops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931920"/>
            <a:ext cx="3474720" cy="1097280"/>
          </a:xfrm>
          <a:prstGeom prst="rect">
            <a:avLst/>
          </a:prstGeom>
          <a:solidFill>
            <a:srgbClr val="1E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00507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196F3"/>
                </a:solidFill>
                <a:latin typeface="Calibri"/>
              </a:rPr>
              <a:t>Hypothesis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38912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Hybrid approach (graph + pandas) approaches oracle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914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Dataset: Synthea Longitudinal EHR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50292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377440" cy="42062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69848"/>
            <a:ext cx="2286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005840"/>
            <a:ext cx="1097280" cy="42062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069848"/>
            <a:ext cx="10058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005840"/>
            <a:ext cx="1828800" cy="42062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069848"/>
            <a:ext cx="17373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26464"/>
            <a:ext cx="2377440" cy="420624"/>
          </a:xfrm>
          <a:prstGeom prst="rect">
            <a:avLst/>
          </a:prstGeom>
          <a:solidFill>
            <a:srgbClr val="1E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490472"/>
            <a:ext cx="2286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patients.csv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426464"/>
            <a:ext cx="1097280" cy="420624"/>
          </a:xfrm>
          <a:prstGeom prst="rect">
            <a:avLst/>
          </a:prstGeom>
          <a:solidFill>
            <a:srgbClr val="1E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490472"/>
            <a:ext cx="10058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1,171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426464"/>
            <a:ext cx="1828800" cy="420624"/>
          </a:xfrm>
          <a:prstGeom prst="rect">
            <a:avLst/>
          </a:prstGeom>
          <a:solidFill>
            <a:srgbClr val="1E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1490472"/>
            <a:ext cx="17373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Demographics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47088"/>
            <a:ext cx="2377440" cy="420624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911096"/>
            <a:ext cx="2286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conditions.csv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1847088"/>
            <a:ext cx="1097280" cy="420624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1911096"/>
            <a:ext cx="10058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8,376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1847088"/>
            <a:ext cx="1828800" cy="420624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1911096"/>
            <a:ext cx="17373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Diagnoses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267712"/>
            <a:ext cx="2377440" cy="420624"/>
          </a:xfrm>
          <a:prstGeom prst="rect">
            <a:avLst/>
          </a:prstGeom>
          <a:solidFill>
            <a:srgbClr val="1E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331720"/>
            <a:ext cx="2286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observations.csv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267712"/>
            <a:ext cx="1097280" cy="420624"/>
          </a:xfrm>
          <a:prstGeom prst="rect">
            <a:avLst/>
          </a:prstGeom>
          <a:solidFill>
            <a:srgbClr val="1E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2331720"/>
            <a:ext cx="10058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299,697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267712"/>
            <a:ext cx="1828800" cy="420624"/>
          </a:xfrm>
          <a:prstGeom prst="rect">
            <a:avLst/>
          </a:prstGeom>
          <a:solidFill>
            <a:srgbClr val="1E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2331720"/>
            <a:ext cx="17373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Vitals &amp; Labs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688336"/>
            <a:ext cx="2377440" cy="420624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752344"/>
            <a:ext cx="2286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medications.csv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2688336"/>
            <a:ext cx="1097280" cy="420624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2752344"/>
            <a:ext cx="10058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42,989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688336"/>
            <a:ext cx="1828800" cy="420624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6200" y="2752344"/>
            <a:ext cx="17373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Prescriptions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33756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196F3"/>
                </a:solidFill>
                <a:latin typeface="Calibri"/>
              </a:rPr>
              <a:t>7 longitudinal waves (5-year bins):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6576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Wave 1: 1990–1994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Wave 2: 1995–1999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Wave 3: 2000–2004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Wave 4: 2005–2009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36576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Wave 5: 2010–2014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Wave 6: 2015–2019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Wave 7: 2020+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6217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914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Benchmark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32004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E3F2FD"/>
                </a:solidFill>
                <a:latin typeface="Calibri"/>
              </a:rPr>
              <a:t>100 questions · 25 per category · verified gold answers from raw CSVs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2377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5212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Retrieve a specific fact
about a patient in
a named wave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5212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e.g. 'What conditions
did patient X have
in Wave 4?'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486400" cy="2377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65960"/>
            <a:ext cx="5212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Compute change in a vital
between two waves
(wave-level average)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926080"/>
            <a:ext cx="5212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e.g. 'Did SBP increase
from Wave 3 to Wave 5?'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39"/>
            <a:ext cx="5486400" cy="2377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69079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Aggregate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6279"/>
            <a:ext cx="5212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Count or enumerate facts
across ALL waves
for a patient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486399"/>
            <a:ext cx="5212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e.g. 'How many unique
conditions in total?'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77639"/>
            <a:ext cx="5486400" cy="2377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069079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Multi-hop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526279"/>
            <a:ext cx="5212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Join condition date +
observation series;
compute pre/post avg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486399"/>
            <a:ext cx="5212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e.g. 'Was SBP higher
after Hypertension
diagnosis?'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914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4 Approaches: From Naive to Oracle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50292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2788920" cy="44805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02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097280"/>
            <a:ext cx="20116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Naive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83080"/>
            <a:ext cx="26060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CSV rows → text chunks
Vector similarity (top-10)
No patient/wave awareness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029200"/>
            <a:ext cx="1645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47488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Overall: 11%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3017520"/>
            <a:ext cx="201168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005840"/>
            <a:ext cx="2788920" cy="44805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097280"/>
            <a:ext cx="502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115568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097280"/>
            <a:ext cx="20116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Metadata
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83080"/>
            <a:ext cx="26060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Patient ID + wave extracted
Filtered similarity search
Flat text 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5029200"/>
            <a:ext cx="1645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5047488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Overall: 23%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017520"/>
            <a:ext cx="201168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005840"/>
            <a:ext cx="2788920" cy="44805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1097280"/>
            <a:ext cx="502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115568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097280"/>
            <a:ext cx="20116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Knowledge
Graph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26060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NetworkX heterogeneous graph
Graph traversal → subgraph
Structured context to LLM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5029200"/>
            <a:ext cx="1645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5047488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Overall: 42%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3017520"/>
            <a:ext cx="201168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81160" y="1005840"/>
            <a:ext cx="2788920" cy="44805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72600" y="1097280"/>
            <a:ext cx="502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1115568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1097280"/>
            <a:ext cx="20116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Text-to-
Pandas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1783080"/>
            <a:ext cx="26060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LLM generates pandas code
Executes against raw DataFrames
Symbolic computation oracle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5029200"/>
            <a:ext cx="1645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9800" y="5047488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Overall: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914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Knowledge Graph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50292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1737360" cy="7772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34440"/>
            <a:ext cx="1645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Patient
(1,171)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1737360" cy="7772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788920"/>
            <a:ext cx="1645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Wave
(7)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743200"/>
            <a:ext cx="1737360" cy="7772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2788920"/>
            <a:ext cx="1645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Condition
(6,742)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572000"/>
            <a:ext cx="1737360" cy="7772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617720"/>
            <a:ext cx="1645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Observation
(274,720)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572000"/>
            <a:ext cx="1737360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4617720"/>
            <a:ext cx="1645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Medication
(33,134)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" y="20116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2196F3"/>
                </a:solidFill>
                <a:latin typeface="Calibri"/>
              </a:rPr>
              <a:t>appeared_in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0116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2196F3"/>
                </a:solidFill>
                <a:latin typeface="Calibri"/>
              </a:rPr>
              <a:t>diagnosed_with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" y="3749039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2196F3"/>
                </a:solidFill>
                <a:latin typeface="Calibri"/>
              </a:rPr>
              <a:t>measured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749039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2196F3"/>
                </a:solidFill>
                <a:latin typeface="Calibri"/>
              </a:rPr>
              <a:t>prescribed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" y="420624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2196F3"/>
                </a:solidFill>
                <a:latin typeface="Calibri"/>
              </a:rPr>
              <a:t>contains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914400"/>
            <a:ext cx="7132320" cy="5029200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005840"/>
            <a:ext cx="6766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196F3"/>
                </a:solidFill>
                <a:latin typeface="Calibri"/>
              </a:rPr>
              <a:t>Graph Statistics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554480"/>
            <a:ext cx="3657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Total nodes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554480"/>
            <a:ext cx="29260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315,774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011680"/>
            <a:ext cx="3657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Total edges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011680"/>
            <a:ext cx="29260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633,571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468880"/>
            <a:ext cx="3657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Patient nodes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468880"/>
            <a:ext cx="29260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1,171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926080"/>
            <a:ext cx="3657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Wave nodes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926080"/>
            <a:ext cx="29260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7 (shared)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383280"/>
            <a:ext cx="3657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Condition nodes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383280"/>
            <a:ext cx="29260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6,742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840480"/>
            <a:ext cx="3657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Observation nodes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840480"/>
            <a:ext cx="29260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274,720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4297680"/>
            <a:ext cx="3657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Medication nodes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297680"/>
            <a:ext cx="29260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33,134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4846320"/>
            <a:ext cx="6766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E3F2FD"/>
                </a:solidFill>
                <a:latin typeface="Calibri"/>
              </a:rPr>
              <a:t>5 node types · 5 directed edge types
Wave assignment from event-date year field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914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Full Results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32004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108960" cy="6400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005840"/>
            <a:ext cx="1463040" cy="6400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14300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Lookup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005840"/>
            <a:ext cx="1463040" cy="6400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14300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005840"/>
            <a:ext cx="1737360" cy="6400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14300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Aggregate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1645920" cy="6400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14300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Multi-hop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1005840"/>
            <a:ext cx="1645920" cy="6400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114300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Overall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645920"/>
            <a:ext cx="3108960" cy="640080"/>
          </a:xfrm>
          <a:prstGeom prst="rect">
            <a:avLst/>
          </a:prstGeom>
          <a:solidFill>
            <a:srgbClr val="28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78308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Naive 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1645920"/>
            <a:ext cx="1463040" cy="640080"/>
          </a:xfrm>
          <a:prstGeom prst="rect">
            <a:avLst/>
          </a:prstGeom>
          <a:solidFill>
            <a:srgbClr val="5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178308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1645920"/>
            <a:ext cx="1463040" cy="640080"/>
          </a:xfrm>
          <a:prstGeom prst="rect">
            <a:avLst/>
          </a:prstGeom>
          <a:solidFill>
            <a:srgbClr val="28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178308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645920"/>
            <a:ext cx="1737360" cy="640080"/>
          </a:xfrm>
          <a:prstGeom prst="rect">
            <a:avLst/>
          </a:prstGeom>
          <a:solidFill>
            <a:srgbClr val="28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78308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16%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645920"/>
            <a:ext cx="1645920" cy="640080"/>
          </a:xfrm>
          <a:prstGeom prst="rect">
            <a:avLst/>
          </a:prstGeom>
          <a:solidFill>
            <a:srgbClr val="28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178308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1645920"/>
            <a:ext cx="1645920" cy="640080"/>
          </a:xfrm>
          <a:prstGeom prst="rect">
            <a:avLst/>
          </a:prstGeom>
          <a:solidFill>
            <a:srgbClr val="28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178308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11%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286000"/>
            <a:ext cx="3108960" cy="640080"/>
          </a:xfrm>
          <a:prstGeom prst="rect">
            <a:avLst/>
          </a:prstGeom>
          <a:solidFill>
            <a:srgbClr val="1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42316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Metadata Filtering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2286000"/>
            <a:ext cx="1463040" cy="640080"/>
          </a:xfrm>
          <a:prstGeom prst="rect">
            <a:avLst/>
          </a:prstGeom>
          <a:solidFill>
            <a:srgbClr val="1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242316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48%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2286000"/>
            <a:ext cx="1463040" cy="640080"/>
          </a:xfrm>
          <a:prstGeom prst="rect">
            <a:avLst/>
          </a:prstGeom>
          <a:solidFill>
            <a:srgbClr val="1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242316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286000"/>
            <a:ext cx="1737360" cy="640080"/>
          </a:xfrm>
          <a:prstGeom prst="rect">
            <a:avLst/>
          </a:prstGeom>
          <a:solidFill>
            <a:srgbClr val="1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242316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28%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2286000"/>
            <a:ext cx="1645920" cy="640080"/>
          </a:xfrm>
          <a:prstGeom prst="rect">
            <a:avLst/>
          </a:prstGeom>
          <a:solidFill>
            <a:srgbClr val="1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242316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80" y="2286000"/>
            <a:ext cx="1645920" cy="640080"/>
          </a:xfrm>
          <a:prstGeom prst="rect">
            <a:avLst/>
          </a:prstGeom>
          <a:solidFill>
            <a:srgbClr val="1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9800" y="242316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23%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2926080"/>
            <a:ext cx="3108960" cy="640080"/>
          </a:xfrm>
          <a:prstGeom prst="rect">
            <a:avLst/>
          </a:prstGeom>
          <a:solidFill>
            <a:srgbClr val="0D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306324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Knowledge Graph v2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0" y="2926080"/>
            <a:ext cx="1463040" cy="640080"/>
          </a:xfrm>
          <a:prstGeom prst="rect">
            <a:avLst/>
          </a:prstGeom>
          <a:solidFill>
            <a:srgbClr val="0D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0440" y="306324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0" y="2926080"/>
            <a:ext cx="1463040" cy="640080"/>
          </a:xfrm>
          <a:prstGeom prst="rect">
            <a:avLst/>
          </a:prstGeom>
          <a:solidFill>
            <a:srgbClr val="0D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83480" y="306324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926080"/>
            <a:ext cx="1737360" cy="640080"/>
          </a:xfrm>
          <a:prstGeom prst="rect">
            <a:avLst/>
          </a:prstGeom>
          <a:solidFill>
            <a:srgbClr val="0D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306324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64%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2926080"/>
            <a:ext cx="1645920" cy="640080"/>
          </a:xfrm>
          <a:prstGeom prst="rect">
            <a:avLst/>
          </a:prstGeom>
          <a:solidFill>
            <a:srgbClr val="0D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83880" y="306324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84080" y="2926080"/>
            <a:ext cx="1645920" cy="640080"/>
          </a:xfrm>
          <a:prstGeom prst="rect">
            <a:avLst/>
          </a:prstGeom>
          <a:solidFill>
            <a:srgbClr val="0D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29800" y="306324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42%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566160"/>
            <a:ext cx="3108960" cy="640080"/>
          </a:xfrm>
          <a:prstGeom prst="rect">
            <a:avLst/>
          </a:prstGeom>
          <a:solidFill>
            <a:srgbClr val="1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370332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Text-to-Pandas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74720" y="3566160"/>
            <a:ext cx="1463040" cy="640080"/>
          </a:xfrm>
          <a:prstGeom prst="rect">
            <a:avLst/>
          </a:prstGeom>
          <a:solidFill>
            <a:srgbClr val="1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20440" y="370332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0" y="3566160"/>
            <a:ext cx="1463040" cy="640080"/>
          </a:xfrm>
          <a:prstGeom prst="rect">
            <a:avLst/>
          </a:prstGeom>
          <a:solidFill>
            <a:srgbClr val="1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83480" y="370332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3566160"/>
            <a:ext cx="1737360" cy="640080"/>
          </a:xfrm>
          <a:prstGeom prst="rect">
            <a:avLst/>
          </a:prstGeom>
          <a:solidFill>
            <a:srgbClr val="1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370332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38160" y="3566160"/>
            <a:ext cx="1645920" cy="640080"/>
          </a:xfrm>
          <a:prstGeom prst="rect">
            <a:avLst/>
          </a:prstGeom>
          <a:solidFill>
            <a:srgbClr val="1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83880" y="370332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84080" y="3566160"/>
            <a:ext cx="1645920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29800" y="3703320"/>
            <a:ext cx="1554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5669280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E3F2FD"/>
                </a:solidFill>
                <a:latin typeface="Calibri"/>
              </a:rPr>
              <a:t>KG v2 = best retrieval-only system · Text-to-Pandas = symbolic oracle upper bound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914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Results: Accuracy by Category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50292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914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Finding 1: Graph Isolation Nearly Solves Lookup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64008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303520" cy="5120640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196F3"/>
                </a:solidFill>
                <a:latin typeface="Calibri"/>
              </a:rPr>
              <a:t>Lookup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Naive RAG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709928"/>
            <a:ext cx="2011680" cy="34747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09928"/>
            <a:ext cx="2011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Metadata Filtering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331720"/>
            <a:ext cx="2011680" cy="3474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331720"/>
            <a:ext cx="2011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9504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Knowledge Graph v2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953512"/>
            <a:ext cx="201168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953512"/>
            <a:ext cx="2011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11296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Text-to-Pandas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3575304"/>
            <a:ext cx="201168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575304"/>
            <a:ext cx="2011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1772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2196F3"/>
                </a:solidFill>
                <a:latin typeface="Calibri"/>
              </a:rPr>
              <a:t>+60 pp gain: Naive RAG → KG v2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960120"/>
            <a:ext cx="5943600" cy="5120640"/>
          </a:xfrm>
          <a:prstGeom prst="rect">
            <a:avLst/>
          </a:prstGeom>
          <a:solidFill>
            <a:srgbClr val="1E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051560"/>
            <a:ext cx="5669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196F3"/>
                </a:solidFill>
                <a:latin typeface="Calibri"/>
              </a:rPr>
              <a:t>Why KG v2 wins on Lookup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160020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▸ Graph traversal guarantees patient-wave isolation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▸ Eliminates cross-patient context contamination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▸ Subgraph always scoped to the right wave(s)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▸ Residual 5 failures: 3 LLM_FORMAT (dropped SNOMED qualifiers), 2 edge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4846320"/>
            <a:ext cx="5669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E3F2FD"/>
                </a:solidFill>
                <a:latin typeface="Calibri"/>
              </a:rPr>
              <a:t>Naive RAG failure: retrieved records from wrong patients
or wrong time windows — a noise problem graph solves by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914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Finding 2: Multi-Hop Is a Computation Problem, Not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73152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486400" cy="5120640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196F3"/>
                </a:solidFill>
                <a:latin typeface="Calibri"/>
              </a:rPr>
              <a:t>Multi-Hop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Naive RAG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709928"/>
            <a:ext cx="1828800" cy="34747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709928"/>
            <a:ext cx="1828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Metadata Filtering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2331720"/>
            <a:ext cx="1828800" cy="3474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331720"/>
            <a:ext cx="1828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9504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Knowledge Graph v2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2953512"/>
            <a:ext cx="1828800" cy="34747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2953512"/>
            <a:ext cx="1828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11296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Text-to-Pandas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3575304"/>
            <a:ext cx="18288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3575304"/>
            <a:ext cx="1828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17720"/>
            <a:ext cx="5212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44336"/>
                </a:solidFill>
                <a:latin typeface="Calibri"/>
              </a:rPr>
              <a:t>All retrieval approaches converge to ~0–8%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960120"/>
            <a:ext cx="5760720" cy="5120640"/>
          </a:xfrm>
          <a:prstGeom prst="rect">
            <a:avLst/>
          </a:prstGeom>
          <a:solidFill>
            <a:srgbClr val="1E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5156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196F3"/>
                </a:solidFill>
                <a:latin typeface="Calibri"/>
              </a:rPr>
              <a:t>What Multi-Hop Requires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600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1. Find condition diagnosis date from conditions table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2. Split observation time-series at that date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3. Compute pre-diagnosis average SBP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4. Compute post-diagnosis average SBP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5. Compare and return direction of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84632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E3F2FD"/>
                </a:solidFill>
                <a:latin typeface="Calibri"/>
              </a:rPr>
              <a:t>No flat-context LLM can do this regardless of retrieval quality.
Text-to-Pandas solves all 25 trivially with a 2-step join.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914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Core Finding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74552" cy="1645920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88136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300" b="1" i="0">
                <a:solidFill>
                  <a:srgbClr val="2196F3"/>
                </a:solidFill>
                <a:latin typeface="Calibri"/>
              </a:rPr>
              <a:t>Better retrieval alone does NOT solve temporal reasoning.
The bottleneck shifts from retrieval quality to symbolic computation.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3566160" cy="21945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33832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+60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Lookup gain
Naive → KG v2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926080"/>
            <a:ext cx="3566160" cy="21945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017520"/>
            <a:ext cx="33832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886200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Multi-hop (all retrieval-
only approaches)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926080"/>
            <a:ext cx="3566160" cy="21945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017520"/>
            <a:ext cx="33832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−58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886200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Gap to oracle
(KG v2 vs Text-to-Pandas)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1127455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1">
                <a:solidFill>
                  <a:srgbClr val="E3F2FD"/>
                </a:solidFill>
                <a:latin typeface="Calibri"/>
              </a:rPr>
              <a:t>Hybrid architecture (graph retrieval + pandas code generation) is required to close the gap.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914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Patient Cohort: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36576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645920" cy="56692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33856"/>
            <a:ext cx="15544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005840"/>
            <a:ext cx="1645920" cy="56692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133856"/>
            <a:ext cx="15544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Patient 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005840"/>
            <a:ext cx="914400" cy="56692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133856"/>
            <a:ext cx="8229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Waves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05840"/>
            <a:ext cx="1371600" cy="56692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133856"/>
            <a:ext cx="12801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Conditions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05840"/>
            <a:ext cx="6035040" cy="56692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133856"/>
            <a:ext cx="59436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Key Feature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572768"/>
            <a:ext cx="1645920" cy="566928"/>
          </a:xfrm>
          <a:prstGeom prst="rect">
            <a:avLst/>
          </a:prstGeom>
          <a:solidFill>
            <a:srgbClr val="0D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682496"/>
            <a:ext cx="15544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1572768"/>
            <a:ext cx="1645920" cy="566928"/>
          </a:xfrm>
          <a:prstGeom prst="rect">
            <a:avLst/>
          </a:prstGeom>
          <a:solidFill>
            <a:srgbClr val="0D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1682496"/>
            <a:ext cx="15544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3f336702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1572768"/>
            <a:ext cx="914400" cy="566928"/>
          </a:xfrm>
          <a:prstGeom prst="rect">
            <a:avLst/>
          </a:prstGeom>
          <a:solidFill>
            <a:srgbClr val="0D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1682496"/>
            <a:ext cx="8229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1572768"/>
            <a:ext cx="1371600" cy="566928"/>
          </a:xfrm>
          <a:prstGeom prst="rect">
            <a:avLst/>
          </a:prstGeom>
          <a:solidFill>
            <a:srgbClr val="0D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1682496"/>
            <a:ext cx="12801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572768"/>
            <a:ext cx="6035040" cy="566928"/>
          </a:xfrm>
          <a:prstGeom prst="rect">
            <a:avLst/>
          </a:prstGeom>
          <a:solidFill>
            <a:srgbClr val="0D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682496"/>
            <a:ext cx="59436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Coronary Heart Disease × 6 waves; 7× burden increase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139696"/>
            <a:ext cx="1645920" cy="566928"/>
          </a:xfrm>
          <a:prstGeom prst="rect">
            <a:avLst/>
          </a:prstGeom>
          <a:solidFill>
            <a:srgbClr val="1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249424"/>
            <a:ext cx="15544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Contrast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2139696"/>
            <a:ext cx="1645920" cy="566928"/>
          </a:xfrm>
          <a:prstGeom prst="rect">
            <a:avLst/>
          </a:prstGeom>
          <a:solidFill>
            <a:srgbClr val="1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2249424"/>
            <a:ext cx="15544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1930a1b6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2139696"/>
            <a:ext cx="914400" cy="566928"/>
          </a:xfrm>
          <a:prstGeom prst="rect">
            <a:avLst/>
          </a:prstGeom>
          <a:solidFill>
            <a:srgbClr val="1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2249424"/>
            <a:ext cx="8229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139696"/>
            <a:ext cx="1371600" cy="566928"/>
          </a:xfrm>
          <a:prstGeom prst="rect">
            <a:avLst/>
          </a:prstGeom>
          <a:solidFill>
            <a:srgbClr val="1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2249424"/>
            <a:ext cx="12801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2139696"/>
            <a:ext cx="6035040" cy="566928"/>
          </a:xfrm>
          <a:prstGeom prst="rect">
            <a:avLst/>
          </a:prstGeom>
          <a:solidFill>
            <a:srgbClr val="1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2249424"/>
            <a:ext cx="59436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Most stable: 7 waves, 1 condition, maximum coverage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706624"/>
            <a:ext cx="1645920" cy="566928"/>
          </a:xfrm>
          <a:prstGeom prst="rect">
            <a:avLst/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2816352"/>
            <a:ext cx="15544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Comorbid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2706624"/>
            <a:ext cx="1645920" cy="566928"/>
          </a:xfrm>
          <a:prstGeom prst="rect">
            <a:avLst/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816352"/>
            <a:ext cx="15544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3b95da79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2706624"/>
            <a:ext cx="914400" cy="566928"/>
          </a:xfrm>
          <a:prstGeom prst="rect">
            <a:avLst/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03320" y="2816352"/>
            <a:ext cx="8229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706624"/>
            <a:ext cx="1371600" cy="566928"/>
          </a:xfrm>
          <a:prstGeom prst="rect">
            <a:avLst/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7720" y="2816352"/>
            <a:ext cx="12801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2706624"/>
            <a:ext cx="6035040" cy="566928"/>
          </a:xfrm>
          <a:prstGeom prst="rect">
            <a:avLst/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89320" y="2816352"/>
            <a:ext cx="59436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HTN + Diabetes from Wave 2; monotonic burden increase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2196F3"/>
                </a:solidFill>
                <a:latin typeface="Calibri"/>
              </a:rPr>
              <a:t>Patient Selection Criteria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383280"/>
            <a:ext cx="11430000" cy="594360"/>
          </a:xfrm>
          <a:prstGeom prst="rect">
            <a:avLst/>
          </a:prstGeom>
          <a:solidFill>
            <a:srgbClr val="1E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493008"/>
            <a:ext cx="16459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196F3"/>
                </a:solidFill>
                <a:latin typeface="Calibri"/>
              </a:rPr>
              <a:t>Star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3493008"/>
            <a:ext cx="9601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Highest Star score: max conditions × max waves × rare CHD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069080"/>
            <a:ext cx="11430000" cy="594360"/>
          </a:xfrm>
          <a:prstGeom prst="rect">
            <a:avLst/>
          </a:prstGeom>
          <a:solidFill>
            <a:srgbClr val="1E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178808"/>
            <a:ext cx="16459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196F3"/>
                </a:solidFill>
                <a:latin typeface="Calibri"/>
              </a:rPr>
              <a:t>Contrast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4178808"/>
            <a:ext cx="9601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Highest Contrast score: most waves with fewest conditions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754880"/>
            <a:ext cx="11430000" cy="594360"/>
          </a:xfrm>
          <a:prstGeom prst="rect">
            <a:avLst/>
          </a:prstGeom>
          <a:solidFill>
            <a:srgbClr val="1E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4864608"/>
            <a:ext cx="16459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196F3"/>
                </a:solidFill>
                <a:latin typeface="Calibri"/>
              </a:rPr>
              <a:t>Comorbid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03120" y="4864608"/>
            <a:ext cx="9601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Highest Comorbid score: both HTN and Diabetes from earliest wave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914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Patient Deep Dive: 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50292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3794760" cy="51206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3611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Star — 3f336702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3611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22 unique conditions across all waves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CHD persistent in 6 of 7 waves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Wave 1: 3 conditions → Wave 7: 22 conditions (7× growth)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Avg SBP Wave 5→6: +4 mmHg trend detectable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Greatest diagnostic complexity in cohort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960120"/>
            <a:ext cx="3794760" cy="51206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399" y="1024128"/>
            <a:ext cx="3611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Contrast — 1930a1b6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399" y="1554480"/>
            <a:ext cx="3611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Only 1 condition (Prediabetes) across all 7 waves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Full 7-wave longitudinal coverage achieved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Zero comorbidity — clinical baseline patient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Demonstrates max wave coverage is achievable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No medication records at any wave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8" y="960120"/>
            <a:ext cx="3794760" cy="51206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8" y="1024128"/>
            <a:ext cx="3611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Comorbid — 3b95da79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8" y="1554480"/>
            <a:ext cx="3611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14 conditions; HTN + T2D from Wave 2 onward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Monotonically increasing condition burden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Antihypertensives prescribed Wave 2–7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Pre/post-HTN SBP comparison: multi-hop benchmark query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Highest comorbidity complexity of any patient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914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Failure Analysis: KG v2 (58 failures)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54864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66928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35040" y="960120"/>
            <a:ext cx="5943600" cy="96012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996696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CROSS_TABLE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996696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43.1%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399032"/>
            <a:ext cx="5669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Multi-hop joins require code execution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011680"/>
            <a:ext cx="5943600" cy="960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048256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MISSING_EDGE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048256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22.4%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50592"/>
            <a:ext cx="5669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Retriever passes only most-recent obs; gold needs wave avg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063240"/>
            <a:ext cx="5943600" cy="960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099816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LLM_FORMAT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099816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15.5%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02152"/>
            <a:ext cx="5669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Correct data retrieved; wrong answer format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4114800"/>
            <a:ext cx="5943600" cy="9601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151376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4151376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15.5%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553712"/>
            <a:ext cx="5669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LLM cannot count distinct waves from flat context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5166360"/>
            <a:ext cx="5943600" cy="96012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5202936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WRONG_SUBGRAPH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5202936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 3.4%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605272"/>
            <a:ext cx="5669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Empty context returned for wave that has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914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2196F3"/>
                </a:solidFill>
                <a:latin typeface="Calibri"/>
              </a:rPr>
              <a:t>IIIT-Hyderabad · IASNLP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41148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577840" cy="5120640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196F3"/>
                </a:solidFill>
                <a:latin typeface="Calibri"/>
              </a:rPr>
              <a:t>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▸ Graph retrieval solves lookup — 80% accuracy vs 20% Naive RAG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▸ Retrieval alone cannot handle trend averaging or multi-hop joins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▸ Text-to-Pandas achieves 100% — symbolic computation is the bottleneck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▸ 58-pp gap to oracle is a computation gap, not a retrieval gap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▸ Hybrid architecture (graph + pandas) is the recommended path forward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960120"/>
            <a:ext cx="5669280" cy="5120640"/>
          </a:xfrm>
          <a:prstGeom prst="rect">
            <a:avLst/>
          </a:prstGeom>
          <a:solidFill>
            <a:srgbClr val="1E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024128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196F3"/>
                </a:solidFill>
                <a:latin typeface="Calibri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▸ Fix MISSING_EDGE: pass all obs with wave mean → trend ~80%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▸ Two-stage multi-hop: graph resolves diagnosis date, pandas computes pre/post avg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▸ LLM-as-judge evaluator for format-sensitive answers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▸ Finer-grained temporal index (monthly vs 5-year waves)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▸ Validate on real EHR data (MIMIC-IV, eICU)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33679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IIIT-Hyderabad · IASNLP · 2026   |   github.com/iasnlp-rag-project-v2   |   Synthea EHR · 1,171 patients · 100-Q benchmark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